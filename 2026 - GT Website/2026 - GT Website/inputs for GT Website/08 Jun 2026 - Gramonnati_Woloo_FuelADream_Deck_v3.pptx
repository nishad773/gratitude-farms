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22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9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ved@gramonnati.or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GRAMONNATI TRUST  ×  WOLOO POWDER ROOMS  ×  FUELADREAM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-60960" y="630936"/>
            <a:ext cx="515789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Powder Room.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-60960" y="1417320"/>
            <a:ext cx="515789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 Women Served.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2215134"/>
            <a:ext cx="515789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Day.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" y="311667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Crowdfunding Campaign by </a:t>
            </a:r>
            <a:r>
              <a:rPr lang="en-US" sz="120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Fueladream and Gramonnati Trust </a:t>
            </a:r>
            <a:r>
              <a:rPr lang="en-US" sz="12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Deploy 10 Smart Hygiene Facilities Across Bengaluru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3611880"/>
            <a:ext cx="2011680" cy="329184"/>
          </a:xfrm>
          <a:prstGeom prst="rect">
            <a:avLst/>
          </a:prstGeom>
          <a:solidFill>
            <a:srgbClr val="2C2C2E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80G Certified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3611880"/>
            <a:ext cx="2011680" cy="329184"/>
          </a:xfrm>
          <a:prstGeom prst="rect">
            <a:avLst/>
          </a:prstGeom>
          <a:solidFill>
            <a:srgbClr val="2C2C2E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CSR-1 Registered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3611880"/>
            <a:ext cx="2011680" cy="329184"/>
          </a:xfrm>
          <a:prstGeom prst="rect">
            <a:avLst/>
          </a:prstGeom>
          <a:solidFill>
            <a:srgbClr val="2C2C2E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12AA Approved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2533" y="4160520"/>
            <a:ext cx="8412480" cy="41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Ayushi Sharma </a:t>
            </a:r>
            <a:r>
              <a:rPr lang="en-US" sz="105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Trustee, </a:t>
            </a: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Gramonnati Trust  </a:t>
            </a:r>
          </a:p>
          <a:p>
            <a:pPr algn="ctr"/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Ranganath Thota  |  CEO, </a:t>
            </a: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Fueladream — India's trusted crowdfunding platform  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4760713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Swachh Bharat 2.0  ·  Women Empowerment  ·  Veterans Welfare  ·  SDG 5  ·  SDG 6  ·  SDG 8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7FEBC8-9994-8864-DF73-1702A17DD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533" y="482092"/>
            <a:ext cx="3437467" cy="2616294"/>
          </a:xfrm>
          <a:prstGeom prst="rect">
            <a:avLst/>
          </a:prstGeom>
        </p:spPr>
      </p:pic>
      <p:sp>
        <p:nvSpPr>
          <p:cNvPr id="20" name="Text 27">
            <a:extLst>
              <a:ext uri="{FF2B5EF4-FFF2-40B4-BE49-F238E27FC236}">
                <a16:creationId xmlns:a16="http://schemas.microsoft.com/office/drawing/2014/main" id="{BDEA7500-14F0-B9D7-6D57-6FDF8B351C19}"/>
              </a:ext>
            </a:extLst>
          </p:cNvPr>
          <p:cNvSpPr/>
          <p:nvPr/>
        </p:nvSpPr>
        <p:spPr>
          <a:xfrm>
            <a:off x="4663440" y="38587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420E129C-2D64-FCD9-5C65-6154284AEDD8}"/>
              </a:ext>
            </a:extLst>
          </p:cNvPr>
          <p:cNvSpPr/>
          <p:nvPr/>
        </p:nvSpPr>
        <p:spPr>
          <a:xfrm>
            <a:off x="4663440" y="4114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509"/>
            <a:ext cx="9144000" cy="118186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965960" y="791253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Sanitation Crisis — And Women Pay the Price</a:t>
            </a:r>
            <a:endParaRPr lang="en-US" sz="1400" b="1" dirty="0"/>
          </a:p>
        </p:txBody>
      </p:sp>
      <p:sp>
        <p:nvSpPr>
          <p:cNvPr id="7" name="Text 4"/>
          <p:cNvSpPr/>
          <p:nvPr/>
        </p:nvSpPr>
        <p:spPr>
          <a:xfrm>
            <a:off x="365759" y="337185"/>
            <a:ext cx="8595361" cy="58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"Every day, many women are forced to choose between their safety and their basic needs. That is not a personal problem. It is a public infrastructure failure."</a:t>
            </a:r>
            <a:endParaRPr lang="en-US" sz="115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0C4F5E-1CC5-EE7E-7BD3-A5F19DB720B3}"/>
              </a:ext>
            </a:extLst>
          </p:cNvPr>
          <p:cNvGrpSpPr/>
          <p:nvPr/>
        </p:nvGrpSpPr>
        <p:grpSpPr>
          <a:xfrm>
            <a:off x="7040880" y="2994999"/>
            <a:ext cx="2103120" cy="1700784"/>
            <a:chOff x="6720840" y="658368"/>
            <a:chExt cx="2103120" cy="1700784"/>
          </a:xfrm>
        </p:grpSpPr>
        <p:sp>
          <p:nvSpPr>
            <p:cNvPr id="14" name="Shape 11"/>
            <p:cNvSpPr/>
            <p:nvPr/>
          </p:nvSpPr>
          <p:spPr>
            <a:xfrm>
              <a:off x="6720840" y="658368"/>
              <a:ext cx="2103120" cy="804672"/>
            </a:xfrm>
            <a:prstGeom prst="rect">
              <a:avLst/>
            </a:prstGeom>
            <a:solidFill>
              <a:srgbClr val="2C2C2E"/>
            </a:solidFill>
            <a:ln w="12700">
              <a:solidFill>
                <a:srgbClr val="2C2C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2"/>
            <p:cNvSpPr/>
            <p:nvPr/>
          </p:nvSpPr>
          <p:spPr>
            <a:xfrm>
              <a:off x="6720840" y="658368"/>
              <a:ext cx="2103120" cy="45720"/>
            </a:xfrm>
            <a:prstGeom prst="rect">
              <a:avLst/>
            </a:prstGeom>
            <a:solidFill>
              <a:srgbClr val="E91E8C"/>
            </a:solidFill>
            <a:ln w="12700">
              <a:solidFill>
                <a:srgbClr val="E91E8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/>
            <p:cNvSpPr/>
            <p:nvPr/>
          </p:nvSpPr>
          <p:spPr>
            <a:xfrm>
              <a:off x="6766560" y="713232"/>
              <a:ext cx="20116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150M+</a:t>
              </a:r>
              <a:endParaRPr lang="en-US" sz="24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6766560" y="1097280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AAA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Women without safe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AAAA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toilet access across India</a:t>
              </a:r>
              <a:endParaRPr lang="en-US" sz="9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6720840" y="1572768"/>
              <a:ext cx="2103120" cy="786384"/>
            </a:xfrm>
            <a:prstGeom prst="rect">
              <a:avLst/>
            </a:prstGeom>
            <a:solidFill>
              <a:srgbClr val="2C2C2E"/>
            </a:solidFill>
            <a:ln w="12700">
              <a:solidFill>
                <a:srgbClr val="2C2C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6"/>
            <p:cNvSpPr/>
            <p:nvPr/>
          </p:nvSpPr>
          <p:spPr>
            <a:xfrm>
              <a:off x="6720840" y="1572768"/>
              <a:ext cx="2103120" cy="45720"/>
            </a:xfrm>
            <a:prstGeom prst="rect">
              <a:avLst/>
            </a:prstGeom>
            <a:solidFill>
              <a:srgbClr val="FF6B35"/>
            </a:solidFill>
            <a:ln w="12700">
              <a:solidFill>
                <a:srgbClr val="FF6B3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6766560" y="1627632"/>
              <a:ext cx="20116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12M+</a:t>
              </a:r>
              <a:endParaRPr lang="en-US" sz="24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6766560" y="201168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AAAA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Bengaluru population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AAAA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with near zero hygienic public options</a:t>
              </a:r>
              <a:endParaRPr lang="en-US" sz="85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FE0F4C9-1875-4B17-9E70-D6A04E80BFC6}"/>
              </a:ext>
            </a:extLst>
          </p:cNvPr>
          <p:cNvGrpSpPr/>
          <p:nvPr/>
        </p:nvGrpSpPr>
        <p:grpSpPr>
          <a:xfrm>
            <a:off x="6972300" y="1111293"/>
            <a:ext cx="2125980" cy="1737952"/>
            <a:chOff x="4434840" y="658368"/>
            <a:chExt cx="2125980" cy="1700784"/>
          </a:xfrm>
        </p:grpSpPr>
        <p:sp>
          <p:nvSpPr>
            <p:cNvPr id="9" name="Shape 6"/>
            <p:cNvSpPr/>
            <p:nvPr/>
          </p:nvSpPr>
          <p:spPr>
            <a:xfrm>
              <a:off x="4434840" y="658368"/>
              <a:ext cx="2103120" cy="1700784"/>
            </a:xfrm>
            <a:prstGeom prst="rect">
              <a:avLst/>
            </a:prstGeom>
            <a:solidFill>
              <a:srgbClr val="2C2C2E"/>
            </a:solidFill>
            <a:ln w="12700">
              <a:solidFill>
                <a:srgbClr val="2C2C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4434840" y="658368"/>
              <a:ext cx="2103120" cy="45720"/>
            </a:xfrm>
            <a:prstGeom prst="rect">
              <a:avLst/>
            </a:prstGeom>
            <a:solidFill>
              <a:srgbClr val="FFD700"/>
            </a:solidFill>
            <a:ln w="12700">
              <a:solidFill>
                <a:srgbClr val="FFD7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4480560" y="749808"/>
              <a:ext cx="2011680" cy="534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D700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$53.8B</a:t>
              </a:r>
              <a:endParaRPr lang="en-US" sz="28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4480560" y="1159002"/>
              <a:ext cx="20116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Lost annually to poor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CCCCC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sanitation in India</a:t>
              </a:r>
              <a:endParaRPr lang="en-US" sz="10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4457700" y="1560237"/>
              <a:ext cx="20116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8888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World Bank</a:t>
              </a:r>
              <a:endParaRPr lang="en-US" sz="8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4457700" y="1748536"/>
              <a:ext cx="2103120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BBBBB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Women reduce water intake, skip meals, avoid travel — all to manage sanitation deprivation.</a:t>
              </a:r>
              <a:endParaRPr lang="en-US" sz="1000" dirty="0"/>
            </a:p>
          </p:txBody>
        </p:sp>
      </p:grpSp>
      <p:sp>
        <p:nvSpPr>
          <p:cNvPr id="34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0A9D88F-9FAF-901D-AC2B-B261D3CE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2212"/>
            <a:ext cx="6612467" cy="39611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821267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WOLOO ECOSYSTEM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0" y="146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Only Integrated Smart Hygiene Platform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4167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latin typeface="Arial" pitchFamily="34" charset="0"/>
                <a:ea typeface="Arial" pitchFamily="34" charset="-122"/>
                <a:cs typeface="Arial" pitchFamily="34" charset="-120"/>
              </a:rPr>
              <a:t>SIX INTERCONNECTED SERVICES</a:t>
            </a:r>
            <a:endParaRPr lang="en-US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27F8503-E771-3D46-4A1D-E48B4CBB9B1B}"/>
              </a:ext>
            </a:extLst>
          </p:cNvPr>
          <p:cNvGrpSpPr/>
          <p:nvPr/>
        </p:nvGrpSpPr>
        <p:grpSpPr>
          <a:xfrm>
            <a:off x="430111" y="3256518"/>
            <a:ext cx="3572427" cy="1544320"/>
            <a:chOff x="4663440" y="1005840"/>
            <a:chExt cx="4206240" cy="1828800"/>
          </a:xfrm>
        </p:grpSpPr>
        <p:sp>
          <p:nvSpPr>
            <p:cNvPr id="7" name="Shape 4"/>
            <p:cNvSpPr/>
            <p:nvPr/>
          </p:nvSpPr>
          <p:spPr>
            <a:xfrm>
              <a:off x="4663440" y="1005840"/>
              <a:ext cx="4206240" cy="585216"/>
            </a:xfrm>
            <a:prstGeom prst="rect">
              <a:avLst/>
            </a:prstGeom>
            <a:solidFill>
              <a:srgbClr val="2C2C2E"/>
            </a:solidFill>
            <a:ln w="12700">
              <a:solidFill>
                <a:srgbClr val="2C2C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/>
            <p:cNvSpPr/>
            <p:nvPr/>
          </p:nvSpPr>
          <p:spPr>
            <a:xfrm>
              <a:off x="4663440" y="1005840"/>
              <a:ext cx="54864" cy="585216"/>
            </a:xfrm>
            <a:prstGeom prst="rect">
              <a:avLst/>
            </a:prstGeom>
            <a:solidFill>
              <a:srgbClr val="2196F3"/>
            </a:solidFill>
            <a:ln w="12700">
              <a:solidFill>
                <a:srgbClr val="2196F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4754880" y="1115568"/>
              <a:ext cx="420624" cy="347472"/>
            </a:xfrm>
            <a:prstGeom prst="rect">
              <a:avLst/>
            </a:prstGeom>
            <a:solidFill>
              <a:srgbClr val="2196F3"/>
            </a:solidFill>
            <a:ln w="12700">
              <a:solidFill>
                <a:srgbClr val="2196F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4754880" y="1115568"/>
              <a:ext cx="42062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</a:t>
              </a:r>
              <a:endParaRPr lang="en-US" sz="8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248656" y="1060704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Powder Rooms</a:t>
              </a:r>
              <a:endParaRPr lang="en-US" sz="10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5248656" y="1298448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BBBBB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200 sqft smart aspirational toilets with retail — commercially viable, women-centric.</a:t>
              </a:r>
              <a:endParaRPr lang="en-US" sz="9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663440" y="1627632"/>
              <a:ext cx="4206240" cy="585216"/>
            </a:xfrm>
            <a:prstGeom prst="rect">
              <a:avLst/>
            </a:prstGeom>
            <a:solidFill>
              <a:srgbClr val="2C2C2E"/>
            </a:solidFill>
            <a:ln w="12700">
              <a:solidFill>
                <a:srgbClr val="2C2C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4663440" y="1627632"/>
              <a:ext cx="54864" cy="585216"/>
            </a:xfrm>
            <a:prstGeom prst="rect">
              <a:avLst/>
            </a:prstGeom>
            <a:solidFill>
              <a:srgbClr val="4CAF50"/>
            </a:solidFill>
            <a:ln w="12700">
              <a:solidFill>
                <a:srgbClr val="4CAF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2"/>
            <p:cNvSpPr/>
            <p:nvPr/>
          </p:nvSpPr>
          <p:spPr>
            <a:xfrm>
              <a:off x="4754880" y="1737360"/>
              <a:ext cx="420624" cy="347472"/>
            </a:xfrm>
            <a:prstGeom prst="rect">
              <a:avLst/>
            </a:prstGeom>
            <a:solidFill>
              <a:srgbClr val="4CAF50"/>
            </a:solidFill>
            <a:ln w="12700">
              <a:solidFill>
                <a:srgbClr val="4CAF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/>
            <p:cNvSpPr/>
            <p:nvPr/>
          </p:nvSpPr>
          <p:spPr>
            <a:xfrm>
              <a:off x="4754880" y="1737360"/>
              <a:ext cx="42062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IoT</a:t>
              </a:r>
              <a:endParaRPr lang="en-US" sz="8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248656" y="1682496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Hygiene Monitoring (IoT)</a:t>
              </a:r>
              <a:endParaRPr lang="en-US" sz="10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248656" y="1920240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BBBBB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Real-time stink detection, air quality sensors, usage counters, mobile alerts.</a:t>
              </a:r>
              <a:endParaRPr lang="en-US" sz="9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4663440" y="2249424"/>
              <a:ext cx="4206240" cy="585216"/>
            </a:xfrm>
            <a:prstGeom prst="rect">
              <a:avLst/>
            </a:prstGeom>
            <a:solidFill>
              <a:srgbClr val="2C2C2E"/>
            </a:solidFill>
            <a:ln w="12700">
              <a:solidFill>
                <a:srgbClr val="2C2C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7"/>
            <p:cNvSpPr/>
            <p:nvPr/>
          </p:nvSpPr>
          <p:spPr>
            <a:xfrm>
              <a:off x="4663440" y="2249424"/>
              <a:ext cx="54864" cy="585216"/>
            </a:xfrm>
            <a:prstGeom prst="rect">
              <a:avLst/>
            </a:prstGeom>
            <a:solidFill>
              <a:srgbClr val="FF9800"/>
            </a:solidFill>
            <a:ln w="12700">
              <a:solidFill>
                <a:srgbClr val="FF98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8"/>
            <p:cNvSpPr/>
            <p:nvPr/>
          </p:nvSpPr>
          <p:spPr>
            <a:xfrm>
              <a:off x="4754880" y="2359152"/>
              <a:ext cx="420624" cy="347472"/>
            </a:xfrm>
            <a:prstGeom prst="rect">
              <a:avLst/>
            </a:prstGeom>
            <a:solidFill>
              <a:srgbClr val="FF9800"/>
            </a:solidFill>
            <a:ln w="12700">
              <a:solidFill>
                <a:srgbClr val="FF98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/>
            <p:cNvSpPr/>
            <p:nvPr/>
          </p:nvSpPr>
          <p:spPr>
            <a:xfrm>
              <a:off x="4754880" y="2359152"/>
              <a:ext cx="42062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APP</a:t>
              </a:r>
              <a:endParaRPr lang="en-US" sz="8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5248656" y="2304288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Loo-Locater Service</a:t>
              </a:r>
              <a:endParaRPr lang="en-US" sz="105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5248656" y="2542032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BBBBB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Find certified washrooms anywhere in India. 1L hosts across 800 cities.</a:t>
              </a:r>
              <a:endParaRPr lang="en-US" sz="9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E1BBF46-DA66-BBD5-F070-D86CA35011F9}"/>
              </a:ext>
            </a:extLst>
          </p:cNvPr>
          <p:cNvGrpSpPr/>
          <p:nvPr/>
        </p:nvGrpSpPr>
        <p:grpSpPr>
          <a:xfrm>
            <a:off x="4978387" y="3223858"/>
            <a:ext cx="3799853" cy="1630849"/>
            <a:chOff x="4663440" y="2871216"/>
            <a:chExt cx="4206240" cy="1828800"/>
          </a:xfrm>
        </p:grpSpPr>
        <p:sp>
          <p:nvSpPr>
            <p:cNvPr id="25" name="Shape 22"/>
            <p:cNvSpPr/>
            <p:nvPr/>
          </p:nvSpPr>
          <p:spPr>
            <a:xfrm>
              <a:off x="4663440" y="2871216"/>
              <a:ext cx="4206240" cy="585216"/>
            </a:xfrm>
            <a:prstGeom prst="rect">
              <a:avLst/>
            </a:prstGeom>
            <a:solidFill>
              <a:srgbClr val="2C2C2E"/>
            </a:solidFill>
            <a:ln w="12700">
              <a:solidFill>
                <a:srgbClr val="2C2C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3"/>
            <p:cNvSpPr/>
            <p:nvPr/>
          </p:nvSpPr>
          <p:spPr>
            <a:xfrm>
              <a:off x="4663440" y="2871216"/>
              <a:ext cx="54864" cy="585216"/>
            </a:xfrm>
            <a:prstGeom prst="rect">
              <a:avLst/>
            </a:prstGeom>
            <a:solidFill>
              <a:srgbClr val="E91E8C"/>
            </a:solidFill>
            <a:ln w="12700">
              <a:solidFill>
                <a:srgbClr val="E91E8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4"/>
            <p:cNvSpPr/>
            <p:nvPr/>
          </p:nvSpPr>
          <p:spPr>
            <a:xfrm>
              <a:off x="4754880" y="2980944"/>
              <a:ext cx="420624" cy="347472"/>
            </a:xfrm>
            <a:prstGeom prst="rect">
              <a:avLst/>
            </a:prstGeom>
            <a:solidFill>
              <a:srgbClr val="E91E8C"/>
            </a:solidFill>
            <a:ln w="12700">
              <a:solidFill>
                <a:srgbClr val="E91E8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5"/>
            <p:cNvSpPr/>
            <p:nvPr/>
          </p:nvSpPr>
          <p:spPr>
            <a:xfrm>
              <a:off x="4754880" y="2980944"/>
              <a:ext cx="42062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RET</a:t>
              </a:r>
              <a:endParaRPr lang="en-US" sz="8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5248656" y="2926080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Hygiene Product Retail</a:t>
              </a:r>
              <a:endParaRPr lang="en-US" sz="105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5248656" y="3163824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BBBBB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Women-centric products &amp; services sold in-unit and via app. Revenue generator.</a:t>
              </a:r>
              <a:endParaRPr lang="en-US" sz="900" dirty="0"/>
            </a:p>
          </p:txBody>
        </p:sp>
        <p:sp>
          <p:nvSpPr>
            <p:cNvPr id="31" name="Shape 28"/>
            <p:cNvSpPr/>
            <p:nvPr/>
          </p:nvSpPr>
          <p:spPr>
            <a:xfrm>
              <a:off x="4663440" y="3493008"/>
              <a:ext cx="4206240" cy="585216"/>
            </a:xfrm>
            <a:prstGeom prst="rect">
              <a:avLst/>
            </a:prstGeom>
            <a:solidFill>
              <a:srgbClr val="2C2C2E"/>
            </a:solidFill>
            <a:ln w="12700">
              <a:solidFill>
                <a:srgbClr val="2C2C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29"/>
            <p:cNvSpPr/>
            <p:nvPr/>
          </p:nvSpPr>
          <p:spPr>
            <a:xfrm>
              <a:off x="4663440" y="3493008"/>
              <a:ext cx="54864" cy="585216"/>
            </a:xfrm>
            <a:prstGeom prst="rect">
              <a:avLst/>
            </a:prstGeom>
            <a:solidFill>
              <a:srgbClr val="9C27B0"/>
            </a:solidFill>
            <a:ln w="12700">
              <a:solidFill>
                <a:srgbClr val="9C27B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0"/>
            <p:cNvSpPr/>
            <p:nvPr/>
          </p:nvSpPr>
          <p:spPr>
            <a:xfrm>
              <a:off x="4754880" y="3602736"/>
              <a:ext cx="420624" cy="347472"/>
            </a:xfrm>
            <a:prstGeom prst="rect">
              <a:avLst/>
            </a:prstGeom>
            <a:solidFill>
              <a:srgbClr val="9C27B0"/>
            </a:solidFill>
            <a:ln w="12700">
              <a:solidFill>
                <a:srgbClr val="9C27B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1"/>
            <p:cNvSpPr/>
            <p:nvPr/>
          </p:nvSpPr>
          <p:spPr>
            <a:xfrm>
              <a:off x="4754880" y="3602736"/>
              <a:ext cx="42062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SaaS</a:t>
              </a:r>
              <a:endParaRPr lang="en-US" sz="8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5248656" y="3547872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Cleaning Task Management</a:t>
              </a:r>
              <a:endParaRPr lang="en-US" sz="105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5248656" y="3785616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BBBBB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Digital janitor scheduling, audit trails, compliance dashboard for facility managers.</a:t>
              </a:r>
              <a:endParaRPr lang="en-US" sz="900" dirty="0"/>
            </a:p>
          </p:txBody>
        </p:sp>
        <p:sp>
          <p:nvSpPr>
            <p:cNvPr id="37" name="Shape 34"/>
            <p:cNvSpPr/>
            <p:nvPr/>
          </p:nvSpPr>
          <p:spPr>
            <a:xfrm>
              <a:off x="4663440" y="4114800"/>
              <a:ext cx="4206240" cy="585216"/>
            </a:xfrm>
            <a:prstGeom prst="rect">
              <a:avLst/>
            </a:prstGeom>
            <a:solidFill>
              <a:srgbClr val="2C2C2E"/>
            </a:solidFill>
            <a:ln w="12700">
              <a:solidFill>
                <a:srgbClr val="2C2C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5"/>
            <p:cNvSpPr/>
            <p:nvPr/>
          </p:nvSpPr>
          <p:spPr>
            <a:xfrm>
              <a:off x="4663440" y="4114800"/>
              <a:ext cx="54864" cy="585216"/>
            </a:xfrm>
            <a:prstGeom prst="rect">
              <a:avLst/>
            </a:prstGeom>
            <a:solidFill>
              <a:srgbClr val="795548"/>
            </a:solidFill>
            <a:ln w="12700">
              <a:solidFill>
                <a:srgbClr val="7955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6"/>
            <p:cNvSpPr/>
            <p:nvPr/>
          </p:nvSpPr>
          <p:spPr>
            <a:xfrm>
              <a:off x="4754880" y="4224528"/>
              <a:ext cx="420624" cy="347472"/>
            </a:xfrm>
            <a:prstGeom prst="rect">
              <a:avLst/>
            </a:prstGeom>
            <a:solidFill>
              <a:srgbClr val="795548"/>
            </a:solidFill>
            <a:ln w="12700">
              <a:solidFill>
                <a:srgbClr val="79554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7"/>
            <p:cNvSpPr/>
            <p:nvPr/>
          </p:nvSpPr>
          <p:spPr>
            <a:xfrm>
              <a:off x="4754880" y="4224528"/>
              <a:ext cx="42062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FM</a:t>
              </a:r>
              <a:endParaRPr lang="en-US" sz="8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5248656" y="4169664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D7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Facility Management</a:t>
              </a:r>
              <a:endParaRPr lang="en-US" sz="105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5248656" y="4407408"/>
              <a:ext cx="34930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BBBBB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Centralized management of multiple toilets — standards, QA, performance data.</a:t>
              </a:r>
              <a:endParaRPr lang="en-US" sz="900" dirty="0"/>
            </a:p>
          </p:txBody>
        </p:sp>
      </p:grpSp>
      <p:sp>
        <p:nvSpPr>
          <p:cNvPr id="43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Woloo — featured on Shark Tank India 2022  ·  IIMB NSR-CEL Incubation Winner  ·  Monitor · Manage · Monetize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C6D88F8-020D-94A8-BE5F-B6EAA3C11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956" y="800828"/>
            <a:ext cx="5488549" cy="23514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54133" y="164592"/>
            <a:ext cx="3406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products. One platform. Zero compromise on hygiene.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788920" cy="426110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278892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57200" cy="4572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713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80467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TASQ-MASTER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2435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&amp; AI Toilet Monitoring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Stink detector sensor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18836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Real-time mobile &amp; web alerts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Digital cleaner task management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505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Centralized facility dashboard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Usage analytics &amp; historical 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3127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Air quality measurement (IoT)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3493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CLIENTS: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3767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Jio-BP (62 devices · 1,600 facilities pipeline)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4041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IOCL (4 devices · 2,300 facilities pipeline)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43159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BPCL (pilot done · 3,000 facilities pipeline)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4590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Cult.fit · Adani Airport · GMR · Mumbai Airport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713232"/>
            <a:ext cx="2788920" cy="426110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91840" y="713232"/>
            <a:ext cx="2788920" cy="4572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91840" y="713232"/>
            <a:ext cx="4572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713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13048" y="80467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LOO-LOCATER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12435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Washroom Discovery App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Find certified washrooms anywhere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18836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Available in 800 cities, 10,000 pincodes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 Lakh certified toilet host partners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2505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WAH-Score hygiene rating &amp; reviews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0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Navigation to nearest safe facility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3127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Loo-discovery for women on the move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83280" y="3493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ACHIEVED: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83280" y="3767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 Lakh+ active app users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83280" y="4041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- 26 paying corporate clients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83280" y="43159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- 3.5 Lakh employee subscriptions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83280" y="4590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HUL · PhonePe · Nestle · Mondelez · P&amp;G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55080" y="713232"/>
            <a:ext cx="2560320" cy="426110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55080" y="713232"/>
            <a:ext cx="256032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55080" y="713232"/>
            <a:ext cx="45720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55080" y="713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76288" y="8046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POWDER ROOM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46520" y="1243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Hygiene Infrastructure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- 200 sqft aspirational facility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46520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Clean &amp; hygienic powder room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4652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Beauty &amp; changing area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46520" y="2505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Cafe + convenience retail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4652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Baby &amp; mother-care facilities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4652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Solar-powered, zero-waste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46520" y="3438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WAH-certified on Loo-Locater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4652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SHG-operated, women-staffed</a:t>
            </a:r>
            <a:endParaRPr lang="en-US" sz="900" dirty="0"/>
          </a:p>
        </p:txBody>
      </p:sp>
      <p:pic>
        <p:nvPicPr>
          <p:cNvPr id="53" name="Image 0" descr="/sessions/epic-youthful-euler/mnt/outputs/csr_imgs/csr_page_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46520" y="3712464"/>
            <a:ext cx="2377440" cy="1097280"/>
          </a:xfrm>
          <a:prstGeom prst="rect">
            <a:avLst/>
          </a:prstGeom>
        </p:spPr>
      </p:pic>
      <p:sp>
        <p:nvSpPr>
          <p:cNvPr id="54" name="Shape 51"/>
          <p:cNvSpPr/>
          <p:nvPr/>
        </p:nvSpPr>
        <p:spPr>
          <a:xfrm>
            <a:off x="6446520" y="3712464"/>
            <a:ext cx="2377440" cy="1097280"/>
          </a:xfrm>
          <a:prstGeom prst="rect">
            <a:avLst/>
          </a:prstGeom>
          <a:solidFill>
            <a:srgbClr val="1C1C1E">
              <a:alpha val="45000"/>
            </a:srgbClr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537960" y="4114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 Units Live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WOLOO POWDER ROOM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06640" y="182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Shark Tank 2022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toilet. A transformation.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80467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572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417320"/>
            <a:ext cx="420624" cy="42062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Powder Room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sqft · Gender-segregated · Auto-flush · Sanitized after every use · Disability-friendly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114800" cy="80467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572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64608" y="1417320"/>
            <a:ext cx="420624" cy="42062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49240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Safe 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6002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 &amp; changing room · Feeding room · Baby care · Sanitary napkin dispenser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130552"/>
            <a:ext cx="4114800" cy="80467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130552"/>
            <a:ext cx="4572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" y="2313432"/>
            <a:ext cx="420624" cy="42062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2313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4400" y="222199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 + Convenience Store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4963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by Women SHGs . Personal care products · Beverages &amp; snacks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130552"/>
            <a:ext cx="4114800" cy="80467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130552"/>
            <a:ext cx="4572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64608" y="2313432"/>
            <a:ext cx="420624" cy="42062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2313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49240" y="222199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Smart Monitoring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4963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Stink sensor · Air quality · Usage counter · Real-time alerts via TASQ-Master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026664"/>
            <a:ext cx="4114800" cy="80467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3026664"/>
            <a:ext cx="4572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9768" y="3209544"/>
            <a:ext cx="420624" cy="42062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9768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4400" y="311810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WAH-Score Hygiene Rating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33924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first people-powered toilet rating. Like CIBIL for cleanliness. Certified units.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026664"/>
            <a:ext cx="4114800" cy="80467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3026664"/>
            <a:ext cx="4572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64608" y="3209544"/>
            <a:ext cx="420624" cy="42062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64608" y="3209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49240" y="311810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Loo-Locator App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339242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61,000+ daily users · 700 cities · Navigate to nearest certified Powder Room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922776"/>
            <a:ext cx="4114800" cy="80467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" y="3922776"/>
            <a:ext cx="4572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29768" y="4105656"/>
            <a:ext cx="420624" cy="42062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29768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14400" y="40142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Design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4400" y="428853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panels · Bio-digesters · Vertical gardens · Zero-waste operations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3922776"/>
            <a:ext cx="4114800" cy="804672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54880" y="3922776"/>
            <a:ext cx="4572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64608" y="4105656"/>
            <a:ext cx="420624" cy="420624"/>
          </a:xfrm>
          <a:prstGeom prst="rect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64608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49240" y="40142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Women-Led Operations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49240" y="428853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SHGs of ex-Servicewomen and War-widows run every unit. Dignified livelihoods, not just toilets.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80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DO WE PLAN TO SET UP WOLOO POWDER ROOMS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1920240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41832"/>
            <a:ext cx="41148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41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9326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BPCL &amp; HPCL Petrol Pumps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78408" y="1280160"/>
            <a:ext cx="123444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6696" y="1298448"/>
            <a:ext cx="1197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DEPLOYMENT SITES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59105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 signed nationally with Woloo.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sites being finalized for high impact.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114800" cy="1920240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1148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941832"/>
            <a:ext cx="41148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941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13248" y="9326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&amp; Bus Stations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13248" y="1280160"/>
            <a:ext cx="123444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31536" y="1298448"/>
            <a:ext cx="1197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FOOTFALL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92040" y="159105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Majestic, KSR, Yeshwantpur — lakhs of daily commuters. Women passengers have no safe, clean option on their journey.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871216"/>
            <a:ext cx="4114800" cy="1920240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871216"/>
            <a:ext cx="41148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008376"/>
            <a:ext cx="411480" cy="4114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" y="2999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 &amp; Heritage Sites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8408" y="3346704"/>
            <a:ext cx="123444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6696" y="3364992"/>
            <a:ext cx="1197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TOURIST ZONES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Lalbagh, Cubbon Park, temples, markets — tourist destinations with near-zero women's hygiene infrastructure.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871216"/>
            <a:ext cx="4114800" cy="1920240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871216"/>
            <a:ext cx="41148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92040" y="3008376"/>
            <a:ext cx="411480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13248" y="2999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Markets &amp; Hubs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13248" y="3346704"/>
            <a:ext cx="123444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31536" y="3364992"/>
            <a:ext cx="11978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CENTRES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9204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 Market, Jayanagar, Koramangala — Bengaluru's commercial heartbeat with thousands of women vendors every day.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8371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is India's Silicon Valley. Its women deserve world-class hygiene infrastructure.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PROVEN AT SCALE — DE-RISKED FOR YOU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concept stage: Government mandates, paying customers, physical infrastructure operational.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33856"/>
            <a:ext cx="26517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8653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Powder Rooms Live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1579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NHAI · Railways · Municipalities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72968" y="1133856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1133856"/>
            <a:ext cx="26517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4408" y="124358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1,77,204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4408" y="18653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Walk-ins (Jan '26)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21579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growth since April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25896" y="1133856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25896" y="1133856"/>
            <a:ext cx="26517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17336" y="124358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 3.5 Cr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17336" y="18653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FY25-26 YTD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17336" y="21579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streams, growing MoM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688336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688336"/>
            <a:ext cx="26517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79806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1,03,909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11480" y="3419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Toilet Hosts On-boarded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712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cities · 10,000 pincodes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72968" y="2688336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72968" y="2688336"/>
            <a:ext cx="26517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64408" y="279806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264408" y="3419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Pipeline Sites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64408" y="3712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 pumps · Railways · Tourism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25896" y="2688336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25896" y="2688336"/>
            <a:ext cx="26517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17336" y="279806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Lakh+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17336" y="3419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App Users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17336" y="3712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steadily since Mar 2022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279392"/>
            <a:ext cx="9144000" cy="86410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5902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Railways  ·  NHAI  ·  IOCL  ·  BPCL  ·  HPCL  ·  Mumbai Metro  ·  Adani Airports  ·  Gujarat Tourism  ·  Goa Tourism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 · PhonePe · Nestle · Mondelez · P&amp;G · Marico · Reliance · Zydus · GSK · Coca-Cola · Amazon · Walmart · Deloitte · CBRE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FORCE BEHIND THE MISSION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Defending the Nation in Uniform to Serving the Nation Through Swachh Bharat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011680" cy="3566160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2011680" cy="43891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15214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per 100 units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1208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Commander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21208" y="199339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Ex-Servicewoman (Retd Women Officers from Armed Forces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" y="234086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City-level operations &amp; govt coordination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281635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SHG training &amp; mentoring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" y="3291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Zero-tolerance hygiene protocol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" y="376732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Government liaison &amp; compliance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78608" y="1078992"/>
            <a:ext cx="2011680" cy="3566160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78608" y="1078992"/>
            <a:ext cx="2011680" cy="43891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7004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54096" y="115214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per 10 units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88336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Manager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88336" y="199339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Widow / Family Members of ex-servicemen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88336" y="234086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Daily management of 10-unit cluster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88336" y="281635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Staff supervision &amp; rostering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88336" y="3291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Supply chain management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88336" y="376732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Revenue collection &amp; IoT alerts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45736" y="1078992"/>
            <a:ext cx="2011680" cy="3566160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45736" y="1078992"/>
            <a:ext cx="2011680" cy="43891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37176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21224" y="115214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per unit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55464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&amp; Cafe Operator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55464" y="199339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SHG Member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55464" y="234086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Manages cafe counter &amp; store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55464" y="281635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Sells personal care products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55464" y="3291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Earns commission + salary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55464" y="376732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Pathway to SHG ownership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12864" y="1078992"/>
            <a:ext cx="2011680" cy="3566160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12864" y="1078992"/>
            <a:ext cx="2011680" cy="43891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04304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88352" y="115214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per unit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22592" y="162763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Hygiene Attendant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022592" y="199339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SHG Member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22592" y="234086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WAH-standard cleanliness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22592" y="281635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IoT sensor monitoring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22592" y="3291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TASQMaster task tracking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22592" y="376732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Stable, dignified livelihood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48371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Rs.40L funds infrastructure. It also funds dignity — for those who already gave everything to this country.  Jai Hind.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EA39A8D5-A065-C322-B4DC-B71E9E897D17}"/>
              </a:ext>
            </a:extLst>
          </p:cNvPr>
          <p:cNvGrpSpPr/>
          <p:nvPr/>
        </p:nvGrpSpPr>
        <p:grpSpPr>
          <a:xfrm>
            <a:off x="4343400" y="3373797"/>
            <a:ext cx="4507992" cy="804672"/>
            <a:chOff x="4389120" y="3493008"/>
            <a:chExt cx="4434840" cy="804672"/>
          </a:xfrm>
        </p:grpSpPr>
        <p:sp>
          <p:nvSpPr>
            <p:cNvPr id="42" name="Shape 40"/>
            <p:cNvSpPr/>
            <p:nvPr/>
          </p:nvSpPr>
          <p:spPr>
            <a:xfrm>
              <a:off x="4389120" y="3493008"/>
              <a:ext cx="4434840" cy="8046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Text 42"/>
            <p:cNvSpPr/>
            <p:nvPr/>
          </p:nvSpPr>
          <p:spPr>
            <a:xfrm>
              <a:off x="4572000" y="355701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C1C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Shrihari Allangala</a:t>
              </a:r>
              <a:endParaRPr lang="en-US" sz="11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4572000" y="3803904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Trustee – Finance &amp; Strategy</a:t>
              </a:r>
              <a:endParaRPr lang="en-US" sz="9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4572000" y="4005072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30+ years in investment banking and private equity. Strengthens Gramonnati for large CSR partnerships.</a:t>
              </a:r>
              <a:endParaRPr lang="en-US" sz="800" dirty="0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IMPLEMENTING PARTNER — GRAMONNATI TRUST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84048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84048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CREDENTIALS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3167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5th October 2017, Puducherry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591056"/>
            <a:ext cx="384048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6276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Maj. VP Sharma (Retd.)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80G Certified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193852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in Perpetuity (AY 2019-20)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384048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249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CSR-1 No.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2494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CSR00017701 — MCA, Govt. of India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12A Status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5603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Charitable Trust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384048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8712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287121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AACTG8992R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37360" y="3182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 India · HQ Puducherry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384048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Woloo Units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37360" y="349300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Bengaluru's first 10 units</a:t>
            </a:r>
            <a:endParaRPr lang="en-US" sz="10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D514EE9-1EF6-3DED-7F4F-DCE22123ED9C}"/>
              </a:ext>
            </a:extLst>
          </p:cNvPr>
          <p:cNvGrpSpPr/>
          <p:nvPr/>
        </p:nvGrpSpPr>
        <p:grpSpPr>
          <a:xfrm>
            <a:off x="4389120" y="804672"/>
            <a:ext cx="4434840" cy="804672"/>
            <a:chOff x="4389120" y="804672"/>
            <a:chExt cx="4434840" cy="804672"/>
          </a:xfrm>
        </p:grpSpPr>
        <p:sp>
          <p:nvSpPr>
            <p:cNvPr id="27" name="Shape 25"/>
            <p:cNvSpPr/>
            <p:nvPr/>
          </p:nvSpPr>
          <p:spPr>
            <a:xfrm>
              <a:off x="4389120" y="804672"/>
              <a:ext cx="4434840" cy="8046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Shape 26"/>
            <p:cNvSpPr/>
            <p:nvPr/>
          </p:nvSpPr>
          <p:spPr>
            <a:xfrm>
              <a:off x="4389120" y="804672"/>
              <a:ext cx="54864" cy="804672"/>
            </a:xfrm>
            <a:prstGeom prst="rect">
              <a:avLst/>
            </a:prstGeom>
            <a:solidFill>
              <a:srgbClr val="FFD700"/>
            </a:solidFill>
            <a:ln w="12700">
              <a:solidFill>
                <a:srgbClr val="FFD7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9" name="Text 27"/>
            <p:cNvSpPr/>
            <p:nvPr/>
          </p:nvSpPr>
          <p:spPr>
            <a:xfrm>
              <a:off x="4572000" y="868680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C1C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Maj. VP Sharma (Retd.)</a:t>
              </a:r>
              <a:endParaRPr lang="en-US" sz="11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572000" y="1115568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Founder &amp; Managing Trustee</a:t>
              </a:r>
              <a:endParaRPr lang="en-US" sz="9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4572000" y="1316736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Retired Army Major. Founded Gramonnati 2017. Architect of the Woloo-Gramonnati partnership. Champion of veteran welfare.</a:t>
              </a:r>
              <a:endParaRPr lang="en-US" sz="80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FDCEC1D-6A98-DC20-1882-3EB6357CF7DD}"/>
              </a:ext>
            </a:extLst>
          </p:cNvPr>
          <p:cNvGrpSpPr/>
          <p:nvPr/>
        </p:nvGrpSpPr>
        <p:grpSpPr>
          <a:xfrm>
            <a:off x="4389120" y="1639147"/>
            <a:ext cx="4434840" cy="804672"/>
            <a:chOff x="4389120" y="1700784"/>
            <a:chExt cx="4434840" cy="804672"/>
          </a:xfrm>
        </p:grpSpPr>
        <p:sp>
          <p:nvSpPr>
            <p:cNvPr id="32" name="Shape 30"/>
            <p:cNvSpPr/>
            <p:nvPr/>
          </p:nvSpPr>
          <p:spPr>
            <a:xfrm>
              <a:off x="4389120" y="1700784"/>
              <a:ext cx="4434840" cy="8046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3" name="Shape 31"/>
            <p:cNvSpPr/>
            <p:nvPr/>
          </p:nvSpPr>
          <p:spPr>
            <a:xfrm>
              <a:off x="4389120" y="1700784"/>
              <a:ext cx="54864" cy="804672"/>
            </a:xfrm>
            <a:prstGeom prst="rect">
              <a:avLst/>
            </a:prstGeom>
            <a:solidFill>
              <a:srgbClr val="FFD700"/>
            </a:solidFill>
            <a:ln w="12700">
              <a:solidFill>
                <a:srgbClr val="FFD7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Text 32"/>
            <p:cNvSpPr/>
            <p:nvPr/>
          </p:nvSpPr>
          <p:spPr>
            <a:xfrm>
              <a:off x="4572000" y="1764792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C1C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Ayushi Sharma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572000" y="2011680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Trustee – Women Empowerment</a:t>
              </a:r>
              <a:endParaRPr lang="en-US" sz="9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4572000" y="2212848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Leads all women empowerment programmes. Manages field operations and the Woloo women-operator model.</a:t>
              </a:r>
              <a:endParaRPr lang="en-US" sz="8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37872B8-595B-4215-F690-9CF4F531F5CB}"/>
              </a:ext>
            </a:extLst>
          </p:cNvPr>
          <p:cNvGrpSpPr/>
          <p:nvPr/>
        </p:nvGrpSpPr>
        <p:grpSpPr>
          <a:xfrm>
            <a:off x="4392171" y="4212337"/>
            <a:ext cx="4410459" cy="880875"/>
            <a:chOff x="4311153" y="2596896"/>
            <a:chExt cx="4512807" cy="880875"/>
          </a:xfrm>
        </p:grpSpPr>
        <p:sp>
          <p:nvSpPr>
            <p:cNvPr id="37" name="Shape 35"/>
            <p:cNvSpPr/>
            <p:nvPr/>
          </p:nvSpPr>
          <p:spPr>
            <a:xfrm>
              <a:off x="4389120" y="2596896"/>
              <a:ext cx="4434840" cy="8046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Shape 36"/>
            <p:cNvSpPr/>
            <p:nvPr/>
          </p:nvSpPr>
          <p:spPr>
            <a:xfrm>
              <a:off x="4311153" y="2673099"/>
              <a:ext cx="54864" cy="804672"/>
            </a:xfrm>
            <a:prstGeom prst="rect">
              <a:avLst/>
            </a:prstGeom>
            <a:solidFill>
              <a:srgbClr val="FFD700"/>
            </a:solidFill>
            <a:ln w="12700">
              <a:solidFill>
                <a:srgbClr val="FFD70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9" name="Text 37"/>
            <p:cNvSpPr/>
            <p:nvPr/>
          </p:nvSpPr>
          <p:spPr>
            <a:xfrm>
              <a:off x="4572000" y="2660904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C1C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Brig. Atul Sharma (Retd.)</a:t>
              </a:r>
              <a:endParaRPr lang="en-US" sz="11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572000" y="2907792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Trustee – Armed Forces Coordination</a:t>
              </a:r>
              <a:endParaRPr lang="en-US" sz="9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4572000" y="3108960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35 years in Defence ICT. B.Tech. Expertise in large-scale programme management and governance.</a:t>
              </a:r>
              <a:endParaRPr lang="en-US" sz="800" dirty="0"/>
            </a:p>
          </p:txBody>
        </p:sp>
      </p:grpSp>
      <p:sp>
        <p:nvSpPr>
          <p:cNvPr id="43" name="Shape 41"/>
          <p:cNvSpPr/>
          <p:nvPr/>
        </p:nvSpPr>
        <p:spPr>
          <a:xfrm>
            <a:off x="4389120" y="3425272"/>
            <a:ext cx="54864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4BA6FE5-8319-BB1F-15BA-230D63FC5727}"/>
              </a:ext>
            </a:extLst>
          </p:cNvPr>
          <p:cNvGrpSpPr/>
          <p:nvPr/>
        </p:nvGrpSpPr>
        <p:grpSpPr>
          <a:xfrm>
            <a:off x="4416552" y="2492671"/>
            <a:ext cx="4434840" cy="829563"/>
            <a:chOff x="4443984" y="4311396"/>
            <a:chExt cx="4434840" cy="829563"/>
          </a:xfrm>
        </p:grpSpPr>
        <p:sp>
          <p:nvSpPr>
            <p:cNvPr id="47" name="Shape 40">
              <a:extLst>
                <a:ext uri="{FF2B5EF4-FFF2-40B4-BE49-F238E27FC236}">
                  <a16:creationId xmlns:a16="http://schemas.microsoft.com/office/drawing/2014/main" id="{1583695E-D56F-2661-F08C-DF9290A3AAAA}"/>
                </a:ext>
              </a:extLst>
            </p:cNvPr>
            <p:cNvSpPr/>
            <p:nvPr/>
          </p:nvSpPr>
          <p:spPr>
            <a:xfrm>
              <a:off x="4443984" y="4336287"/>
              <a:ext cx="4434840" cy="8046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5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9" name="Text 42">
              <a:extLst>
                <a:ext uri="{FF2B5EF4-FFF2-40B4-BE49-F238E27FC236}">
                  <a16:creationId xmlns:a16="http://schemas.microsoft.com/office/drawing/2014/main" id="{933AB1D6-B060-3200-775E-D6BC5EE3C23E}"/>
                </a:ext>
              </a:extLst>
            </p:cNvPr>
            <p:cNvSpPr/>
            <p:nvPr/>
          </p:nvSpPr>
          <p:spPr>
            <a:xfrm>
              <a:off x="4572000" y="4311396"/>
              <a:ext cx="3200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C1C1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Shyam Kaluve</a:t>
              </a:r>
              <a:endParaRPr lang="en-US" sz="1100" dirty="0"/>
            </a:p>
          </p:txBody>
        </p:sp>
        <p:sp>
          <p:nvSpPr>
            <p:cNvPr id="50" name="Text 43">
              <a:extLst>
                <a:ext uri="{FF2B5EF4-FFF2-40B4-BE49-F238E27FC236}">
                  <a16:creationId xmlns:a16="http://schemas.microsoft.com/office/drawing/2014/main" id="{79214C43-D7BD-9FEF-5E80-7A133CCB6562}"/>
                </a:ext>
              </a:extLst>
            </p:cNvPr>
            <p:cNvSpPr/>
            <p:nvPr/>
          </p:nvSpPr>
          <p:spPr>
            <a:xfrm>
              <a:off x="4572000" y="4558284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Trustee – Technology</a:t>
              </a:r>
              <a:endParaRPr lang="en-US" sz="9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51" name="Text 44">
              <a:extLst>
                <a:ext uri="{FF2B5EF4-FFF2-40B4-BE49-F238E27FC236}">
                  <a16:creationId xmlns:a16="http://schemas.microsoft.com/office/drawing/2014/main" id="{5E6F9F4E-9F77-5682-C3E3-5147113BC1DF}"/>
                </a:ext>
              </a:extLst>
            </p:cNvPr>
            <p:cNvSpPr/>
            <p:nvPr/>
          </p:nvSpPr>
          <p:spPr>
            <a:xfrm>
              <a:off x="4572000" y="4759452"/>
              <a:ext cx="4069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30+ years in Technology Industry. Deep experience in CSR Projects</a:t>
              </a:r>
              <a:endParaRPr lang="en-US" sz="800" dirty="0"/>
            </a:p>
          </p:txBody>
        </p:sp>
      </p:grpSp>
      <p:sp>
        <p:nvSpPr>
          <p:cNvPr id="56" name="Shape 31">
            <a:extLst>
              <a:ext uri="{FF2B5EF4-FFF2-40B4-BE49-F238E27FC236}">
                <a16:creationId xmlns:a16="http://schemas.microsoft.com/office/drawing/2014/main" id="{B13674FF-FFED-B09D-1D2F-E4813CD49384}"/>
              </a:ext>
            </a:extLst>
          </p:cNvPr>
          <p:cNvSpPr/>
          <p:nvPr/>
        </p:nvSpPr>
        <p:spPr>
          <a:xfrm>
            <a:off x="4398264" y="2535257"/>
            <a:ext cx="54864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BENGALURU CAMPAIGN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Woloo Powder Rooms  ·  BPCL &amp; HPCL Sites  ·  Managed by Gramonnati Trust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011680" cy="142646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07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Powder Rooms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066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Bengaluru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115568"/>
            <a:ext cx="2011680" cy="142646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78608" y="1207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Rs.40L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78608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Unit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78608" y="2066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+ Operations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54296" y="1115568"/>
            <a:ext cx="2011680" cy="142646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5736" y="1207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45736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Women's Jobs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45736" y="2066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per unit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21424" y="1115568"/>
            <a:ext cx="2011680" cy="142646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12864" y="1207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12864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Served Daily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12864" y="2066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per unit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697480"/>
            <a:ext cx="2743200" cy="22402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697480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807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SITES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145536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BPCL &amp; HPCL petrol pump stations across Bengaluru. National MoU signed. Sites being finalized — ready to deploy within 60 days of funding commitment.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697480"/>
            <a:ext cx="2743200" cy="22402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46120" y="2697480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0" y="2807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3145536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Rs.25L: Construction &amp; setup — 200 sqft smart facility, IoT sensors, WAH certification, Loo-Locator listing.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Rs.15L: Operations — SHG training, War Widow salary, consumables, cafe setup.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2697480"/>
            <a:ext cx="2743200" cy="22402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72200" y="2697480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2807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CORPORATE = ONE UNIT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3145536"/>
            <a:ext cx="2468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structured as one corporate partner per Powder Room. Your Rs.40L fully funds one complete, operational facility — with contributor's names on ”</a:t>
            </a: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of Gratitude</a:t>
            </a: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, forever.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Rs.40 LAKHS — WHAT GETS BUILT &amp; HOW YOU'RE RECOGNISED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Rs.40L BUILDS ONE COMPLETE POWDER ROOM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822960" cy="32918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31673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Rs.25L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316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&amp; Setup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- 200 sqft smart hygiene facility at selected high foot-fall sites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IoT sensors &amp; stink detection (TASQ-Master)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WAH-Score certification &amp; Loo-Locator listing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596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Solar panels, bio-digester, accessibility ramps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035808"/>
            <a:ext cx="822960" cy="32918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30723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Rs.15L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0723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Support (until self-sustaining)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War Widow Cluster Operator: 12 months salary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SHG training &amp; onboarding (4 women per unit)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Cafe setup, consumables &amp; supply chain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352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TASQ-Master tech platform: 12-month subscription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078224"/>
            <a:ext cx="4114800" cy="73152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18795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UNIT:  500+ women served daily  ·  4 dignified jobs  ·  Carbon credits  ·  Self-sustaining in 12-18 months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411480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804672"/>
            <a:ext cx="41148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8961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GRATITUDE WALL — YOUR RECOGNITION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280160"/>
            <a:ext cx="731520" cy="32918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131673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Rs.40L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133502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FUNDER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6824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Powder Room naming rights (permanent)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1920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Premium plaque at site + Woloo app badge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92040" y="2157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IoT impact dashboard access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92040" y="2395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Co-branded CSR + BRSR report + Carbon credits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2779776"/>
            <a:ext cx="731520" cy="32918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64608" y="281635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Rs.5L+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0" y="28346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DONOR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1821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Gold tier Gratitude Wall plaque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92040" y="34198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80G certificate + annual impact data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3803904"/>
            <a:ext cx="731520" cy="329184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64608" y="384048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Rs.1L+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0" y="38587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/ EMPLOYEE POOL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4206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Silver tier — team name on Gratitude Wall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9204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80G for all individual donors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ESG FEATURES &amp; INDIVIDUAL / CORPORATE TAX BENEFITS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51760" cy="184708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5176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9264"/>
            <a:ext cx="457200" cy="3657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8408" y="9692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VII — CSR Eligible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Qualifies under: Sanitation (Swachh Bharat), Women Empowerment, Rural Development, Environment Sustainability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804672"/>
            <a:ext cx="2651760" cy="184708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804672"/>
            <a:ext cx="265176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0128" y="969264"/>
            <a:ext cx="45720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969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31336" y="9692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80G: 50% Tax Deduction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1463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donated earns 50% income tax deduction under Section 80G. Applicable for corporate and individual donors.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25896" y="804672"/>
            <a:ext cx="2651760" cy="184708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25896" y="804672"/>
            <a:ext cx="2651760" cy="457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63056" y="969264"/>
            <a:ext cx="457200" cy="3657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63056" y="969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84264" y="9692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BRSR-Ready Data Pack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63056" y="1463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ESG disclosure data delivered. SDG KPIs mapped to IRIS+ framework. Format ready for SEBI BRSR filings.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2651760" cy="184708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834640"/>
            <a:ext cx="2651760" cy="4572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2999232"/>
            <a:ext cx="457200" cy="36576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999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78408" y="299923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Credit Certificate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CCTS-compatible MRV data. IoT-measured impact. Verifiable carbon credits issued per unit for your ESG report.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72968" y="2834640"/>
            <a:ext cx="2651760" cy="184708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72968" y="2834640"/>
            <a:ext cx="2651760" cy="457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10128" y="2999232"/>
            <a:ext cx="457200" cy="36576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0128" y="2999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31336" y="299923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Impact Dashboard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10128" y="34930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unit-level access from Day 1. Walk-ins, hygiene scores, women served, jobs created — your impact, live.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25896" y="2834640"/>
            <a:ext cx="2651760" cy="1847088"/>
          </a:xfrm>
          <a:prstGeom prst="rect">
            <a:avLst/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25896" y="2834640"/>
            <a:ext cx="2651760" cy="4572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63056" y="2999232"/>
            <a:ext cx="457200" cy="36576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63056" y="2999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84264" y="299923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Transparency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63056" y="34930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CA-audited utilisation report. CSR-1 compliance documentation. IRIS+ verified KPIs. Zero ambiguity.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FuelADream: Secure · Transparent · FCRA/CSR Compliant · Every rupee tracked  |  www.fueladream.com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15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MEASURABLE IMPACT — SDG FRAMEWORK &amp; REPORTING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51760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859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Hygiene incidents reduced per site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Air quality monitored (IoT)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Communicable disease risk reduced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804672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804672"/>
            <a:ext cx="2651760" cy="4754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82696" y="859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33088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Equality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Women served per month per unit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0128" y="1792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SHG jobs created &amp; sustained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0128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Safe spaces built in public areas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25896" y="804672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25896" y="804672"/>
            <a:ext cx="2651760" cy="47548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35624" y="8595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86016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Sanitation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63056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Certified WAH-score units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63056" y="1792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ODF+ designated sites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63056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Sanitation access visits per period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862072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2862072"/>
            <a:ext cx="2651760" cy="47548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" y="29169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 Work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465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SHG monthly income levels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849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Hygiene attendant earnings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233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- 40 jobs over 10 units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72968" y="2862072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72968" y="2862072"/>
            <a:ext cx="2651760" cy="47548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82696" y="29169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11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133088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Cities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10128" y="3465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Govt PPP infrastructure installed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10128" y="3849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Public utility gap addressed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10128" y="4233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Safe commute for Bengaluru women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25896" y="2862072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25896" y="2862072"/>
            <a:ext cx="2651760" cy="475488"/>
          </a:xfrm>
          <a:prstGeom prst="rect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35624" y="291693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13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86016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Action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63056" y="3465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tCO2e avoided (IoT MRV data)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63056" y="3849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Carbon credits issued per unit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63056" y="4233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Solar &amp; bio-digester impact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8737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KPIs per IRIS+ Standards  ·  Live dashboard for all CSR partners  ·  Annual CA-audited report  ·  BRSR-ready data pack delivered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START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57200" cy="4572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595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868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of Interest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14300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</a:t>
            </a: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ved@gramonnati.org</a:t>
            </a: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95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ranga@Fueladream.com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full due diligence pack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Non-binding — no commitment yet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457200" cy="4572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8836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892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with Fueladream and Gramonnati for Crowd-funding Campaign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216712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Fueladream Approach to Crow-funding Campaign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the details of the Campaign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Donate or pledge your unit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907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29169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Customise Your Crowdfunding Plan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319125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selection · Naming rights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mapping · Disbursement schedule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to your company with Fueladream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895344"/>
            <a:ext cx="457200" cy="4572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9319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9410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Launch &amp; Groundbreaking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" y="421538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live on Fueladream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starts in 60 days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impact on app — live from Day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32004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Bengaluru's First.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480560" y="115214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the first Woloo Powder Room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Bengaluru's history.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80560" y="1901952"/>
            <a:ext cx="4297680" cy="4572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0" y="2048256"/>
            <a:ext cx="4297680" cy="26060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176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GRAMONNATI TRUST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2578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Maj. VP Sharma (Retd.)  |  Founder &amp; Chairman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834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 80959 99776  |  ved@gramonnati.org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090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www.gramonnati.org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36027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FUELADREAM PLATFORM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8587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Ranganath Thota  |  Founder &amp; Chairman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4114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 99088 99111  |  ranga@fueladream.com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43708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www.fueladream.com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4791456"/>
            <a:ext cx="429768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0" y="48463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80G · CSR-1 · Schedule VII · BRSR-Ready · SDG Aligned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2170</Words>
  <Application>Microsoft Macintosh PowerPoint</Application>
  <PresentationFormat>On-screen Show (16:9)</PresentationFormat>
  <Paragraphs>376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Gramonnati Woloo – Bengaluru FuelADream Campaign</dc:title>
  <dc:subject>PptxGenJS Presentation</dc:subject>
  <dc:creator>Gramonnati Trust</dc:creator>
  <cp:lastModifiedBy>VP Sharma</cp:lastModifiedBy>
  <cp:revision>5</cp:revision>
  <dcterms:created xsi:type="dcterms:W3CDTF">2026-06-07T13:50:06Z</dcterms:created>
  <dcterms:modified xsi:type="dcterms:W3CDTF">2026-06-07T23:38:16Z</dcterms:modified>
</cp:coreProperties>
</file>